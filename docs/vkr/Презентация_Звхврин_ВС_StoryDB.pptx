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4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04C89EB-A97E-4C25-98C4-E727EFA84930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104394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Разработка веб-приложения для авторов художественных произведений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4B65FC-5228-4025-AE13-0781C4F846BC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1714500" cy="2857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0152AD3-A8D8-430F-9BB2-8325750C666C}"/>
              </a:ext>
            </a:extLst>
          </p:cNvPr>
          <p:cNvSpPr>
            <a:spLocks noGrp="1"/>
          </p:cNvSpPr>
          <p:nvPr/>
        </p:nvSpPr>
        <p:spPr>
          <a:xfrm>
            <a:off x="876300" y="3286125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A814046-CB2C-40AA-A6D5-DF40C4F233A8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Выполнил: Звхврин В.С.</a:t>
            </a:r>
          </a:p>
          <a:p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Руководитель: Лемешкин А.В.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B19F6D5-B240-4D41-A759-0F9881067C9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E1BAD99-CDBF-4914-9BF8-B47699C9B55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26680A-1A59-45BE-B1C5-F4FB46ED89C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207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FC2E13A-A44D-4F1A-9C6A-6E9065D93CC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Цель и задачи работы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B68DB16-3E2B-4237-95A8-533525B57CD6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1631F3-4230-47B9-9A2C-D691FB53A512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89D6E5-48D8-47A8-B66C-7DC5786C9836}"/>
              </a:ext>
            </a:extLst>
          </p:cNvPr>
          <p:cNvSpPr>
            <a:spLocks noGrp="1"/>
          </p:cNvSpPr>
          <p:nvPr/>
        </p:nvSpPr>
        <p:spPr>
          <a:xfrm>
            <a:off x="914400" y="1285875"/>
            <a:ext cx="10096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Цель: разработать веб-приложение для авторов художественных произведений, позволяющее вести базу знаний проекта, анализировать связи и фиксировать хронологию событий.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0319EF-90F2-4B1C-9130-56A9CCDBD72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93345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проанализировать предметную область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сформировать требования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спроектировать архитектуру и модель данных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реализовать серверную и клиентскую части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проверить основные функциональные сценарии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9892ED-C257-40F7-9D8A-84ECE6E4421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6FD10C6-58EF-43F8-A115-4500355A22E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031BD6-67A2-47C3-A567-61C6AD2692F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5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0DB100B-5CB2-4563-AD2A-68BE33F1F15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Актуальность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7D7114-CA2B-41CB-90B2-1C4878DB0141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7CDDDAA-FE3D-4A28-957F-E25D5CEAF01C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E19A3D-337B-4E48-9202-60A824D9EBB8}"/>
              </a:ext>
            </a:extLst>
          </p:cNvPr>
          <p:cNvSpPr>
            <a:spLocks noGrp="1"/>
          </p:cNvSpPr>
          <p:nvPr/>
        </p:nvSpPr>
        <p:spPr>
          <a:xfrm>
            <a:off x="914400" y="1428750"/>
            <a:ext cx="99060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Материалы художественного проекта быстро становятся разрозненными</a:t>
            </a:r>
          </a:p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Персонажи, места, организации, предметы и события связаны между собой</a:t>
            </a:r>
          </a:p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Обычные документы и таблицы плохо показывают связи и изменения во времени</a:t>
            </a:r>
          </a:p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Автору нужен единый инструмент для хранения, поиска и анализа сведений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4DBDFB-F00A-402F-ADE4-9C736D4FF4B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472D7A-A75B-4F17-AABC-308221004E1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3DC4F9B-9A5B-40CF-9875-43A097CF6E4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963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D413F1E-C5F1-48FE-914D-E4890AD3D0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Основные требования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44F79B-AB68-40A0-81FD-9AB27972CC90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F461FA-77A3-4A68-9936-F9ABCF44240A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801AC7-2C2F-4883-B65D-7D3E92F7F2CE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100965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создание и редактирование проектов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карточки персонажей, предметов, мест и организаций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пользовательские атрибуты и каталоги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граф отношений и структуры проекта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таймлайн событий и изменений состояния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загрузка изображений и экспорт DOCX-досье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BC4A4C-7BB1-46BE-9018-342792FC7EE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519676-4931-4718-9AD5-B44252EC415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621AEFB-6807-44DE-87A7-FD367EA4C6B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7695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3DC5F4-2089-4913-8215-85939CDD760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Сравнение с аналогами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83C0865-7855-4DED-A38B-9D18FF7657B8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14215B-E903-4396-9E41-482D9293A6AB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graphicFrame>
        <p:nvGraphicFramePr>
          <p:cNvPr id="12" name="Таблица 11"/>
          <p:cNvGraphicFramePr/>
          <p:nvPr>
            <p:extLst>
              <p:ext uri="{D42A27DB-BD31-4B8C-83A1-F6EECF244321}">
                <p14:modId xmlns:p14="http://schemas.microsoft.com/office/powerpoint/2010/main" val="2514589259"/>
              </p:ext>
            </p:extLst>
          </p:nvPr>
        </p:nvGraphicFramePr>
        <p:xfrm>
          <a:off x="590550" y="1428750"/>
          <a:ext cx="11010900" cy="4247222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9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Система</a:t>
                      </a:r>
                    </a:p>
                  </a:txBody>
                  <a:tcPr marL="57150" marR="5715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57150" marR="5715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База мира</a:t>
                      </a:r>
                    </a:p>
                  </a:txBody>
                  <a:tcPr marL="57150" marR="5715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Связи</a:t>
                      </a:r>
                    </a:p>
                  </a:txBody>
                  <a:tcPr marL="57150" marR="5715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Таймлайн</a:t>
                      </a:r>
                    </a:p>
                  </a:txBody>
                  <a:tcPr marL="57150" marR="5715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Комментарий</a:t>
                      </a:r>
                    </a:p>
                  </a:txBody>
                  <a:tcPr marL="57150" marR="5715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World Anvil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worldbuilding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публикация и ведение мира</a:t>
                      </a:r>
                    </a:p>
                  </a:txBody>
                  <a:tcPr marL="57150" marR="5715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Campfire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среда автора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част.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готовые модули</a:t>
                      </a:r>
                    </a:p>
                  </a:txBody>
                  <a:tcPr marL="57150" marR="5715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Notebook.ai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база мира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част.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шаблоны сущностей</a:t>
                      </a:r>
                    </a:p>
                  </a:txBody>
                  <a:tcPr marL="57150" marR="5715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Kanka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мир и кампании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акцент на RPG</a:t>
                      </a:r>
                    </a:p>
                  </a:txBody>
                  <a:tcPr marL="57150" marR="57150" marT="38100" marB="381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Plottr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план сюжета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част.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част.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сцены</a:t>
                      </a:r>
                      <a:r>
                        <a:rPr sz="1200" dirty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 и </a:t>
                      </a:r>
                      <a:r>
                        <a:rPr sz="1200" dirty="0" err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линии</a:t>
                      </a:r>
                      <a:r>
                        <a:rPr sz="1200" dirty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dirty="0" err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сюжета</a:t>
                      </a:r>
                      <a:endParaRPr sz="1200" dirty="0">
                        <a:solidFill>
                          <a:srgbClr val="111827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7150" marR="57150" marT="38100" marB="381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CAAF5F-082E-4D09-87C0-172BE109FF0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EF7503A-CFAF-4A7D-AE85-34596C94966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A42224-258D-45F7-9C83-4AE744F1AA0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3413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2B501AC-A944-4C3E-903D-4D8345214BF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Контекстная диаграмма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91112A-AE5C-407F-A080-A4C91B72FC21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6133458-B294-493F-B3CE-B64582A8F87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8D302FF-BAED-4CFC-8D65-4198694D311C}"/>
              </a:ext>
            </a:extLst>
          </p:cNvPr>
          <p:cNvSpPr>
            <a:spLocks noGrp="1"/>
          </p:cNvSpPr>
          <p:nvPr/>
        </p:nvSpPr>
        <p:spPr>
          <a:xfrm>
            <a:off x="571500" y="1095375"/>
            <a:ext cx="110490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76762" y="1190625"/>
            <a:ext cx="8238476" cy="47625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C8342B-A09C-4E1D-AF75-618B12B7699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DB4741-BFE2-457A-B5B5-CA02D10786A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E5A2A4-A23F-4CA2-A9C5-24CDED4337F6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93603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E359D2-FDED-48C5-B8DB-EA690F296A8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Архитектура приложения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7F5355B-3D0A-4AF5-A81A-43FD59AB8F02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40D2CD0-3BC7-41F7-85D0-421AF871A90F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7062F0-D23F-4A9A-B35A-1CBDBC0F6A45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39052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клиент: React + TypeScript</a:t>
            </a:r>
          </a:p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сервер: ASP.NET Core Web API</a:t>
            </a:r>
          </a:p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хранение: PostgreSQL и файловое хранилище</a:t>
            </a:r>
          </a:p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развертывание: Docker Compose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17761B0-6D69-4BF5-9FCE-6639AA09421D}"/>
              </a:ext>
            </a:extLst>
          </p:cNvPr>
          <p:cNvSpPr>
            <a:spLocks noGrp="1"/>
          </p:cNvSpPr>
          <p:nvPr/>
        </p:nvSpPr>
        <p:spPr>
          <a:xfrm>
            <a:off x="4857750" y="1143000"/>
            <a:ext cx="63817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2195951"/>
            <a:ext cx="6191250" cy="237084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FDFDB6-5E90-479E-B480-C225B014583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66F1659-F5D1-45EC-BE1B-EB151EAD2A9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86A177-410E-45E6-B9A8-657B6DCC4E7F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9355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C0506A-C468-47C0-9C63-08EE5209186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Модель данных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92F3A6-4844-4D7C-AEEB-24E37AEFB9E7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62BE31-84C2-4CF2-9A94-8C8227C5B386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683F6A-E0E1-47A2-A004-E7E4CD178199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3905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центральная сущность: проект</a:t>
            </a:r>
          </a:p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объекты мира связаны с каталогами, структурами и событиями</a:t>
            </a:r>
          </a:p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медиафайлы и раскладки хранятся отдельно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6B887E-174C-4D23-BF9C-2870BB44C928}"/>
              </a:ext>
            </a:extLst>
          </p:cNvPr>
          <p:cNvSpPr>
            <a:spLocks noGrp="1"/>
          </p:cNvSpPr>
          <p:nvPr/>
        </p:nvSpPr>
        <p:spPr>
          <a:xfrm>
            <a:off x="4667250" y="1190625"/>
            <a:ext cx="6858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627688"/>
            <a:ext cx="6667500" cy="38407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9A31B3-FDFB-4A88-B549-A38ED21FC36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D2C5608-005F-47C8-A59D-E74B6DD8CCA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7A79BB4-C546-4B81-8938-E8A8B9A69BD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88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121192-6C71-4531-9648-0A2F609913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БД: пользователи и проекты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1E3DDC-A2E2-401F-AC3C-96C3E2284140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E95133-B01E-4A45-B80E-C5AD84D558B0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07E54AD-6745-4CBA-9BC8-A8229194B33D}"/>
              </a:ext>
            </a:extLst>
          </p:cNvPr>
          <p:cNvSpPr>
            <a:spLocks noGrp="1"/>
          </p:cNvSpPr>
          <p:nvPr/>
        </p:nvSpPr>
        <p:spPr>
          <a:xfrm>
            <a:off x="762000" y="1085850"/>
            <a:ext cx="10668000" cy="461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38839" y="1181100"/>
            <a:ext cx="8314322" cy="44291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AE2637-D0D0-4793-AC6C-50E347CE835B}"/>
              </a:ext>
            </a:extLst>
          </p:cNvPr>
          <p:cNvSpPr>
            <a:spLocks noGrp="1"/>
          </p:cNvSpPr>
          <p:nvPr/>
        </p:nvSpPr>
        <p:spPr>
          <a:xfrm>
            <a:off x="1000125" y="58102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Пользователи, проекты, шаблоны, снимки и публикация проекта.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29BD3-5500-49F6-8583-1D0B53A3A53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72A919-74C6-4A42-8FD4-01C50447245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F2CB33-6B26-4BB7-82A5-C5FB699B849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29379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76E7FA-BB21-439C-92C5-20DA2E976AD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БД: объекты художественного мира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CF591E-A6D0-48F0-A2A0-B444E96277D4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9CC177B-24C4-4F8F-9BFA-BD117EE7B47F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028107-5A9D-4EAE-8683-E0C9D146191A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461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9334" y="1181100"/>
            <a:ext cx="8193332" cy="44291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5164010-0E3A-43B3-A22C-79EBA2BB5D04}"/>
              </a:ext>
            </a:extLst>
          </p:cNvPr>
          <p:cNvSpPr>
            <a:spLocks noGrp="1"/>
          </p:cNvSpPr>
          <p:nvPr/>
        </p:nvSpPr>
        <p:spPr>
          <a:xfrm>
            <a:off x="1000125" y="58102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Карточки объектов, атрибуты, отношения, галереи и привязки к структурам.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DC793B-2ED8-4C71-8F13-26B65225030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0625E9-20CE-4373-A2FD-4DDD98E3A47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328F648-C329-4701-8CC0-9D640B85F33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1220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BBC80F2-B4C6-4B45-902D-B7E149D2305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БД: каталоги и справочники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F98031-366E-4C99-9467-C7B3A5F43EB2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1E9C26-437F-4C3F-9E84-CCA92C47937A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410359-4540-4FA4-9F7B-D397ECD991E1}"/>
              </a:ext>
            </a:extLst>
          </p:cNvPr>
          <p:cNvSpPr>
            <a:spLocks noGrp="1"/>
          </p:cNvSpPr>
          <p:nvPr/>
        </p:nvSpPr>
        <p:spPr>
          <a:xfrm>
            <a:off x="762000" y="1085850"/>
            <a:ext cx="10668000" cy="461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9334" y="1181100"/>
            <a:ext cx="8193332" cy="44291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D97D4C-8969-4A50-A120-7F19782AFDDF}"/>
              </a:ext>
            </a:extLst>
          </p:cNvPr>
          <p:cNvSpPr>
            <a:spLocks noGrp="1"/>
          </p:cNvSpPr>
          <p:nvPr/>
        </p:nvSpPr>
        <p:spPr>
          <a:xfrm>
            <a:off x="1000125" y="58102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Настраиваемые каталоги, поля, группы, записи и связи между записями.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A13F7D0-AA63-4844-93C2-9CF8AB0290D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041D5DB-3471-4F9E-BF39-D8B86E1E5AC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0C2152-4F5D-4470-ABAC-6C937E72A01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795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B3FD91-E12F-42FF-9CDF-6A8C0FDE057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БД: структуры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18409F-B9BB-4BAA-A1B5-D6B06E0CC295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282291-342E-4A55-A0CC-C5E8300B2052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E433FC-4778-4315-B9DC-2AAEA142FF3E}"/>
              </a:ext>
            </a:extLst>
          </p:cNvPr>
          <p:cNvSpPr>
            <a:spLocks noGrp="1"/>
          </p:cNvSpPr>
          <p:nvPr/>
        </p:nvSpPr>
        <p:spPr>
          <a:xfrm>
            <a:off x="762000" y="1085850"/>
            <a:ext cx="10668000" cy="461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10597" y="1181100"/>
            <a:ext cx="8370806" cy="44291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31F56E-4CA6-4E8B-8335-8CF458371BB9}"/>
              </a:ext>
            </a:extLst>
          </p:cNvPr>
          <p:cNvSpPr>
            <a:spLocks noGrp="1"/>
          </p:cNvSpPr>
          <p:nvPr/>
        </p:nvSpPr>
        <p:spPr>
          <a:xfrm>
            <a:off x="1000125" y="58102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Структуры проекта, узлы, ребра и назначения объектов.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75B966-41D0-4236-A3D7-B45EED06B8E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B19F43-5A19-4FF9-B51C-E4EF2777A76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D4D897-2221-4ECE-9C67-68B55FFC67B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42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F4F6A9-08B8-483A-BDE2-CFD80DD369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БД: таймлайн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E16FEB-498B-4CFA-8630-887DB4107840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4A648E-7D24-4257-A824-F6A84DAF3773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03C3EE5-9B51-4B4A-AEED-526E447983D2}"/>
              </a:ext>
            </a:extLst>
          </p:cNvPr>
          <p:cNvSpPr>
            <a:spLocks noGrp="1"/>
          </p:cNvSpPr>
          <p:nvPr/>
        </p:nvSpPr>
        <p:spPr>
          <a:xfrm>
            <a:off x="762000" y="1085850"/>
            <a:ext cx="10668000" cy="461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99334" y="1181100"/>
            <a:ext cx="8193332" cy="44291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1A0D06-FE35-49C0-BFF4-B4B39EDD4A10}"/>
              </a:ext>
            </a:extLst>
          </p:cNvPr>
          <p:cNvSpPr>
            <a:spLocks noGrp="1"/>
          </p:cNvSpPr>
          <p:nvPr/>
        </p:nvSpPr>
        <p:spPr>
          <a:xfrm>
            <a:off x="1000125" y="58102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События, связи событий, изменения состояния и раскладка временной линии.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D11F755-B1D8-419B-AD5F-CF2D3B19C5B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C097D6-E0B3-4D5C-A638-9AB95A19766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496F540-D068-465D-A172-9476D16E24C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8827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89B5332-9598-4DBC-B0F4-32EF7C2600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БД: медиа и раскладки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995127-1610-4F68-9061-5C3087B9C5C1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DD9D1D-9523-45F6-A3A3-E7A212B289D8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D6189E-2744-4114-9AAC-8EDFCABF2D86}"/>
              </a:ext>
            </a:extLst>
          </p:cNvPr>
          <p:cNvSpPr>
            <a:spLocks noGrp="1"/>
          </p:cNvSpPr>
          <p:nvPr/>
        </p:nvSpPr>
        <p:spPr>
          <a:xfrm>
            <a:off x="762000" y="1085850"/>
            <a:ext cx="10668000" cy="461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3522" y="1181100"/>
            <a:ext cx="8544955" cy="44291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EF8585D-336E-4188-B81E-677248479DF8}"/>
              </a:ext>
            </a:extLst>
          </p:cNvPr>
          <p:cNvSpPr>
            <a:spLocks noGrp="1"/>
          </p:cNvSpPr>
          <p:nvPr/>
        </p:nvSpPr>
        <p:spPr>
          <a:xfrm>
            <a:off x="1000125" y="58102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Медиафайлы, варианты изображений и пользовательские раскладки графа и таймлайна.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65B86F8-2039-4971-B6FC-EAAF1C87063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76A332B-110C-4265-B15F-66C24F03598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6A74D3-CC5D-4A16-B556-C07171F432D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805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6B1202E-4D5B-45C3-A3DE-7A850680CC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Рабочая область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37033CA-A092-419B-9133-BB9BE6506A17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544347-89E0-4B83-9C5D-2581EDAED2D4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2B066-4CA2-4419-81B9-AB07BFE7BD08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619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слева расположена навигация по типам данных</a:t>
            </a:r>
          </a:p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в центре показан список объектов</a:t>
            </a:r>
          </a:p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справа открывается карточка выбранного элемента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8F25E4-89EF-4EA0-AAC6-DBDACF234B10}"/>
              </a:ext>
            </a:extLst>
          </p:cNvPr>
          <p:cNvSpPr>
            <a:spLocks noGrp="1"/>
          </p:cNvSpPr>
          <p:nvPr/>
        </p:nvSpPr>
        <p:spPr>
          <a:xfrm>
            <a:off x="4524375" y="1095375"/>
            <a:ext cx="68580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9625" y="1314663"/>
            <a:ext cx="6667500" cy="375242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0CF880-0526-476C-958A-5D562478C206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90EAF1-1090-4DC6-B057-38DEEB30064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65E978-C8F0-4272-82A7-B579BBF4174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34488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5A43D0-3E97-4756-BE5B-88B60E11071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Редактирование объектов и каталогов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6B292E-FEFA-4324-BA59-DC37B8858AB6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9BF3E9-083D-4E36-97D2-72B73A3F6911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592F42-E81A-48A6-9E75-D72652658AF8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5334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457762"/>
            <a:ext cx="5143500" cy="289472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D770B9-DD78-4E73-977E-3547F19E2D8E}"/>
              </a:ext>
            </a:extLst>
          </p:cNvPr>
          <p:cNvSpPr>
            <a:spLocks noGrp="1"/>
          </p:cNvSpPr>
          <p:nvPr/>
        </p:nvSpPr>
        <p:spPr>
          <a:xfrm>
            <a:off x="6191250" y="1190625"/>
            <a:ext cx="5334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1457762"/>
            <a:ext cx="5143500" cy="289472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95936A-3EB8-4051-A0C8-71516F21BFC4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Карточка объекта содержит основные сведения, характеристики, связи, каталоги и структуры.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3E960FC-22E2-4C6F-ABC0-B11C943DE1E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61B6227-449F-4E5D-8642-8DEB8C711A3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229942-045C-4FA5-802D-67C6A1F7DF9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96503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6A80CB-E928-4A33-8AF2-1F09B42805F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Связи и временная линия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0F26EC-9CDB-4691-B985-9971A5FBC5B4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CCD5CA2-412B-405A-8D96-4A4DEEAC8F4B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8FD0EA-3BA2-40A1-B78F-3D7596981B92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5334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457762"/>
            <a:ext cx="5143500" cy="289472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A3E26CF-AA40-4121-8BFC-DB55ADFFC7F7}"/>
              </a:ext>
            </a:extLst>
          </p:cNvPr>
          <p:cNvSpPr>
            <a:spLocks noGrp="1"/>
          </p:cNvSpPr>
          <p:nvPr/>
        </p:nvSpPr>
        <p:spPr>
          <a:xfrm>
            <a:off x="6191250" y="1190625"/>
            <a:ext cx="5334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1457762"/>
            <a:ext cx="5143500" cy="289472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AF18B87-4399-45B7-AB37-8CFF93A6D626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Граф показывает отношения между объектами, а таймлайн фиксирует события и изменения состояния.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8E8454-615A-43D6-BC19-50BC7018966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97DEE33-CC67-4AD2-8F2E-3B076BDE32D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D539024-E483-4752-8391-8229CF49273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8746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C7A6DB6-9A4B-40E3-8345-00E9FF95F7C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Технологии реализации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90B481-5650-4B02-969C-FFF9656057CA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6C4640A-1DBD-446E-AB8D-F6FBA66CCCB6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85C06A-11BB-4862-A63E-C95D3E7B7FE2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981075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ASP.NET Core, C#, Entity Framework Core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PostgreSQL, миграции, JSONB для снимков проекта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React, TypeScript, Vite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React Flow, D3, ELK для визуализаций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OpenXML SDK для экспорта DOCX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Docker Compose для развертывания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CFB677-25DC-4F8C-8A79-523FFB17B35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768A239-2AAD-4E16-9043-A34B0D82E3C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531A6FF-05E5-4EB3-99D7-396B1D4C9A0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1974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4A827C-C4B3-4F5D-86DC-CFDBA12490D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Тестирование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199EEB-B840-41DE-B352-F8D296B844C1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72EAF0B-22BB-4201-932E-33646DE05ED6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70D82AC-7CAF-478D-A313-CCEF40598C15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981075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unit-тесты сервисов, валидаторов и вспомогательных функций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интеграционные тесты API и работы с базой данных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тесты клиентских функций и маршрутизации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E2E smoke-проверки основных экранов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проверка сценариев: проект, объект, каталог, структура, таймлайн, экспорт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6DE872-C631-4F94-96E2-B954F103937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A62D73-5530-4AE9-B876-09E1D1B4086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2527A7A-DB47-4FAA-B581-16410AB468F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9953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A5BFB80-B49A-457B-9953-6FB06DFD18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Результат работы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5A6DD6-E077-40A7-A775-8233F6706F48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1143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CF4D3A-86A2-4134-8C61-FC817A2A939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123950" cy="2286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8EBA9C-C25C-4DB0-800E-DD3A34E869F1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981075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разработано веб-приложение StoryDB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реализованы база объектов, каталоги, структуры, граф связей и таймлайн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поддержаны загрузка изображений, снимки проекта и экспорт DOCX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подготовлено контейнерное развертывание и эксплуатационные эндпоинты</a:t>
            </a: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цель выпускной квалификационной работы достигнута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76717D-BF62-4290-A57A-3454D74E6F7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81800B-73FD-4EE5-BABE-DCDF8AFAEC9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StoryDB · ВКР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7DFB86F-361D-476B-9DAF-F247949641C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956009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638</Words>
  <Application>Microsoft Office PowerPoint</Application>
  <DocSecurity>0</DocSecurity>
  <PresentationFormat>Широкоэкранный</PresentationFormat>
  <Paragraphs>149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Иван Иванов</cp:lastModifiedBy>
  <cp:revision>1</cp:revision>
  <dcterms:created xsi:type="dcterms:W3CDTF">2026-06-28T12:23:34Z</dcterms:created>
  <dcterms:modified xsi:type="dcterms:W3CDTF">2026-06-29T21:41:50Z</dcterms:modified>
</cp:coreProperties>
</file>